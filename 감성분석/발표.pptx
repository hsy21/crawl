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media/image1.png" ContentType="image/png"/>
  <Override PartName="/ppt/media/image2.png" ContentType="image/png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부정</c:v>
                </c:pt>
              </c:strCache>
            </c:strRef>
          </c:tx>
          <c:spPr>
            <a:solidFill>
              <a:srgbClr val="14213d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1f2433"/>
                    </a:solidFill>
                    <a:latin typeface="맑은 고딕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정밀도</c:v>
                </c:pt>
                <c:pt idx="1">
                  <c:v>재현율</c:v>
                </c:pt>
                <c:pt idx="2">
                  <c:v>F1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0.81</c:v>
                </c:pt>
                <c:pt idx="1">
                  <c:v>0.64</c:v>
                </c:pt>
                <c:pt idx="2">
                  <c:v>0.71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긍정</c:v>
                </c:pt>
              </c:strCache>
            </c:strRef>
          </c:tx>
          <c:spPr>
            <a:solidFill>
              <a:srgbClr val="fca311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1f2433"/>
                    </a:solidFill>
                    <a:latin typeface="맑은 고딕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정밀도</c:v>
                </c:pt>
                <c:pt idx="1">
                  <c:v>재현율</c:v>
                </c:pt>
                <c:pt idx="2">
                  <c:v>F1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0.7</c:v>
                </c:pt>
                <c:pt idx="1">
                  <c:v>0.85</c:v>
                </c:pt>
                <c:pt idx="2">
                  <c:v>0.77</c:v>
                </c:pt>
              </c:numCache>
            </c:numRef>
          </c:val>
        </c:ser>
        <c:gapWidth val="150"/>
        <c:overlap val="0"/>
        <c:axId val="48473055"/>
        <c:axId val="28138435"/>
      </c:barChart>
      <c:catAx>
        <c:axId val="4847305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475569"/>
                </a:solidFill>
                <a:latin typeface="맑은 고딕"/>
              </a:defRPr>
            </a:pPr>
          </a:p>
        </c:txPr>
        <c:crossAx val="28138435"/>
        <c:crosses val="autoZero"/>
        <c:auto val="1"/>
        <c:lblAlgn val="ctr"/>
        <c:lblOffset val="100"/>
        <c:noMultiLvlLbl val="0"/>
      </c:catAx>
      <c:valAx>
        <c:axId val="28138435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48473055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00" spc="-1" strike="noStrike">
              <a:solidFill>
                <a:srgbClr val="475569"/>
              </a:solidFill>
              <a:latin typeface="맑은 고딕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ko-KR" sz="4400" spc="-1" strike="noStrike">
                <a:solidFill>
                  <a:srgbClr val="000000"/>
                </a:solidFill>
                <a:latin typeface="Noto Sans KR"/>
              </a:rPr>
              <a:t>슬라이드를 이동하려면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메모 서식을 편집하려면 클릭하십시오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&lt;머리글&gt;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r">
              <a:buNone/>
            </a:pPr>
            <a:fld id="{723CC228-9460-4754-9C27-9245EECBDEB0}" type="slidenum"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&lt;숫자&gt;</a:t>
            </a:fld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안녕하세요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영화 리뷰 감성 분석 프로젝트를 발표하겠습니다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데이터 수집부터 모델 배포까지 전 과정을 다루며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핵심은 세 가지 난관을 어떻게 해결했는가입니다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(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약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20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)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17318C-0938-48F6-905F-C687F55109F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전체 파이프라인은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단계입니다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오늘은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1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단계 수집의 봇 차단 문제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데이터 규모와 학습시간 문제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early stop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기준 선정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그리고 성능평가를 중점적으로 말씀드리겠습니다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(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약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30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)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1EC05A-5133-46D8-B687-1A251E90848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첫 난관은 데이터 수집이었습니다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douban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에서 리뷰를 모으려 했는데 봇 차단이 매우 강력했습니다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일반 요청은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TLS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지문으로 바로 막혔죠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BeautifulSoup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으로 파싱하고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curl-cffi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브라우저 지문을 위장해 탐지를 우회했으며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동적 페이지는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Selenium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으로 처리해 해결했습니다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(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약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60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)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9ADCB8-5863-4C00-BE2C-2F11FC9ECD7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둘째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데이터가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13.31GB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너무 방대해 학습 시간이 폭증했습니다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전부 끝까지 학습하는 건 비현실적이라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Early Stopping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을 도입해 불필요한 학습을 자동으로 끊어 시간을 크게 줄였습니다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(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약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45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)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D5FE11-4264-431C-8A3F-EC3CBEEB00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셋째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early stop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을 하더라도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'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어느 지점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'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에서 멈출지 기준이 문제였습니다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보통은 검증 손실 정체를 기준으로 삼지만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저는 시간을 기준으로 잡아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30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분만 학습하고 중단했습니다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정해진 시간 안에 최선의 모델을 확보하는 실용적 접근입니다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(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약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50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)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0F7749-6B5B-47AB-AD55-05152A607F3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성능 평가 결과입니다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테스트 정확도는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74.4%, macro F1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0.74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클래스별로 보면 부정은 정밀도가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긍정은 재현율이 높습니다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혼동행렬의 대각선 값이 정답 건수로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두 클래스 모두 안정적으로 분류됩니다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(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약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50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)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B3CE78-D9AF-417E-B3C8-0F81DB5830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성능 평가 결과입니다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테스트 정확도는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74.4%, macro F1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0.74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클래스별로 보면 부정은 정밀도가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긍정은 재현율이 높습니다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혼동행렬의 대각선 값이 정답 건수로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두 클래스 모두 안정적으로 분류됩니다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(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약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50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)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EF9017-BAF5-4F73-8EA7-917D2F1179C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정리하면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수집부터 배포까지 전 과정을 완주했고 봇 차단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·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대용량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·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중단기준이라는 세 난관을 각각 해결했습니다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최종적으로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Streamlit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대시보드로 실시간 감성분석을 제공합니다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감사합니다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(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약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25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)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EF1901-DDD9-47AA-BCF2-8C82D8B9CA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509760" y="-1463040"/>
            <a:ext cx="4205520" cy="4205520"/>
          </a:xfrm>
          <a:prstGeom prst="ellipse">
            <a:avLst/>
          </a:prstGeom>
          <a:solidFill>
            <a:srgbClr val="1e2c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698480" y="4206240"/>
            <a:ext cx="2742480" cy="2742480"/>
          </a:xfrm>
          <a:prstGeom prst="ellipse">
            <a:avLst/>
          </a:prstGeom>
          <a:solidFill>
            <a:srgbClr val="1e2c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40080" y="216000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600" spc="94" strike="noStrike">
                <a:solidFill>
                  <a:srgbClr val="fca311"/>
                </a:solidFill>
                <a:latin typeface="맑은 고딕"/>
                <a:ea typeface="맑은 고딕"/>
              </a:rPr>
              <a:t>웹크롤링실습</a:t>
            </a:r>
            <a:endParaRPr b="0" lang="en-US" sz="16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2754360"/>
            <a:ext cx="10514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52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영화 리뷰 감성 분석</a:t>
            </a:r>
            <a:endParaRPr b="0" lang="en-US" sz="5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385164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2000" spc="-1" strike="noStrike">
                <a:solidFill>
                  <a:srgbClr val="cbd5e6"/>
                </a:solidFill>
                <a:latin typeface="맑은 고딕"/>
                <a:ea typeface="맑은 고딕"/>
              </a:rPr>
              <a:t>데이터 수집</a:t>
            </a:r>
            <a:r>
              <a:rPr b="0" lang="en-US" sz="2000" spc="-1" strike="noStrike">
                <a:solidFill>
                  <a:srgbClr val="cbd5e6"/>
                </a:solidFill>
                <a:latin typeface="맑은 고딕"/>
                <a:ea typeface="맑은 고딕"/>
              </a:rPr>
              <a:t>, </a:t>
            </a:r>
            <a:r>
              <a:rPr b="0" lang="ko-KR" sz="2000" spc="-1" strike="noStrike">
                <a:solidFill>
                  <a:srgbClr val="cbd5e6"/>
                </a:solidFill>
                <a:latin typeface="맑은 고딕"/>
                <a:ea typeface="맑은 고딕"/>
              </a:rPr>
              <a:t>모델 생성</a:t>
            </a:r>
            <a:r>
              <a:rPr b="0" lang="en-US" sz="2000" spc="-1" strike="noStrike">
                <a:solidFill>
                  <a:srgbClr val="cbd5e6"/>
                </a:solidFill>
                <a:latin typeface="맑은 고딕"/>
                <a:ea typeface="맑은 고딕"/>
              </a:rPr>
              <a:t>·</a:t>
            </a:r>
            <a:r>
              <a:rPr b="0" lang="ko-KR" sz="2000" spc="-1" strike="noStrike">
                <a:solidFill>
                  <a:srgbClr val="cbd5e6"/>
                </a:solidFill>
                <a:latin typeface="맑은 고딕"/>
                <a:ea typeface="맑은 고딕"/>
              </a:rPr>
              <a:t>학습</a:t>
            </a:r>
            <a:r>
              <a:rPr b="0" lang="en-US" sz="2000" spc="-1" strike="noStrike">
                <a:solidFill>
                  <a:srgbClr val="cbd5e6"/>
                </a:solidFill>
                <a:latin typeface="맑은 고딕"/>
                <a:ea typeface="맑은 고딕"/>
              </a:rPr>
              <a:t>·</a:t>
            </a:r>
            <a:r>
              <a:rPr b="0" lang="ko-KR" sz="2000" spc="-1" strike="noStrike">
                <a:solidFill>
                  <a:srgbClr val="cbd5e6"/>
                </a:solidFill>
                <a:latin typeface="맑은 고딕"/>
                <a:ea typeface="맑은 고딕"/>
              </a:rPr>
              <a:t>평가</a:t>
            </a:r>
            <a:r>
              <a:rPr b="0" lang="en-US" sz="2000" spc="-1" strike="noStrike">
                <a:solidFill>
                  <a:srgbClr val="cbd5e6"/>
                </a:solidFill>
                <a:latin typeface="맑은 고딕"/>
                <a:ea typeface="맑은 고딕"/>
              </a:rPr>
              <a:t>, </a:t>
            </a:r>
            <a:r>
              <a:rPr b="0" lang="ko-KR" sz="2000" spc="-1" strike="noStrike">
                <a:solidFill>
                  <a:srgbClr val="cbd5e6"/>
                </a:solidFill>
                <a:latin typeface="맑은 고딕"/>
                <a:ea typeface="맑은 고딕"/>
              </a:rPr>
              <a:t>배포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3" name="Text 6"/>
          <p:cNvSpPr/>
          <p:nvPr/>
        </p:nvSpPr>
        <p:spPr>
          <a:xfrm>
            <a:off x="640080" y="4114800"/>
            <a:ext cx="2468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4" name="Text 8"/>
          <p:cNvSpPr/>
          <p:nvPr/>
        </p:nvSpPr>
        <p:spPr>
          <a:xfrm>
            <a:off x="3337560" y="4114800"/>
            <a:ext cx="2468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035040" y="4114800"/>
            <a:ext cx="2468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640080" y="598932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300" spc="-1" strike="noStrike">
                <a:solidFill>
                  <a:srgbClr val="8c97ad"/>
                </a:solidFill>
                <a:latin typeface="맑은 고딕"/>
                <a:ea typeface="맑은 고딕"/>
              </a:rPr>
              <a:t>한국폴리텍대학 성남캠퍼스 </a:t>
            </a:r>
            <a:r>
              <a:rPr b="0" lang="en-US" sz="1300" spc="-1" strike="noStrike">
                <a:solidFill>
                  <a:srgbClr val="8c97ad"/>
                </a:solidFill>
                <a:latin typeface="맑은 고딕"/>
                <a:ea typeface="맑은 고딕"/>
              </a:rPr>
              <a:t>| </a:t>
            </a:r>
            <a:r>
              <a:rPr b="0" lang="ko-KR" sz="1300" spc="-1" strike="noStrike">
                <a:solidFill>
                  <a:srgbClr val="8c97ad"/>
                </a:solidFill>
                <a:latin typeface="맑은 고딕"/>
                <a:ea typeface="맑은 고딕"/>
              </a:rPr>
              <a:t>인공지능소프트웨어학과 </a:t>
            </a:r>
            <a:r>
              <a:rPr b="0" lang="en-US" sz="1300" spc="-1" strike="noStrike">
                <a:solidFill>
                  <a:srgbClr val="8c97ad"/>
                </a:solidFill>
                <a:latin typeface="맑은 고딕"/>
                <a:ea typeface="맑은 고딕"/>
              </a:rPr>
              <a:t>| 2303110267 </a:t>
            </a:r>
            <a:r>
              <a:rPr b="0" lang="ko-KR" sz="1300" spc="-1" strike="noStrike">
                <a:solidFill>
                  <a:srgbClr val="8c97ad"/>
                </a:solidFill>
                <a:latin typeface="맑은 고딕"/>
                <a:ea typeface="맑은 고딕"/>
              </a:rPr>
              <a:t>황시윤 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640080" y="1008000"/>
            <a:ext cx="10880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30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프로젝트 진행 순서</a:t>
            </a:r>
            <a:endParaRPr b="0" lang="en-US" sz="3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" name="Text 1"/>
          <p:cNvSpPr/>
          <p:nvPr/>
        </p:nvSpPr>
        <p:spPr>
          <a:xfrm>
            <a:off x="639000" y="1620000"/>
            <a:ext cx="10880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500" spc="-1" strike="noStrike">
                <a:solidFill>
                  <a:srgbClr val="6b7280"/>
                </a:solidFill>
                <a:latin typeface="맑은 고딕"/>
                <a:ea typeface="맑은 고딕"/>
              </a:rPr>
              <a:t>데이터 수집 → 준비 → 모델 구축 → 학습 → 평가 → 배포</a:t>
            </a:r>
            <a:endParaRPr b="0" lang="en-US" sz="15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640080" y="2700000"/>
            <a:ext cx="1584360" cy="21938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1048680" y="2974320"/>
            <a:ext cx="767520" cy="767520"/>
          </a:xfrm>
          <a:prstGeom prst="ellipse">
            <a:avLst/>
          </a:prstGeom>
          <a:solidFill>
            <a:srgbClr val="fca3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" name="Text 4"/>
          <p:cNvSpPr/>
          <p:nvPr/>
        </p:nvSpPr>
        <p:spPr>
          <a:xfrm>
            <a:off x="1048680" y="2974320"/>
            <a:ext cx="76752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1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" name="Text 5"/>
          <p:cNvSpPr/>
          <p:nvPr/>
        </p:nvSpPr>
        <p:spPr>
          <a:xfrm>
            <a:off x="731520" y="3843000"/>
            <a:ext cx="1401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6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데이터 수집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" name="Text 6"/>
          <p:cNvSpPr/>
          <p:nvPr/>
        </p:nvSpPr>
        <p:spPr>
          <a:xfrm>
            <a:off x="731520" y="4272840"/>
            <a:ext cx="1401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b7280"/>
                </a:solidFill>
                <a:latin typeface="맑은 고딕"/>
                <a:ea typeface="맑은 고딕"/>
              </a:rPr>
              <a:t>douban </a:t>
            </a:r>
            <a:r>
              <a:rPr b="0" lang="ko-KR" sz="1150" spc="-1" strike="noStrike">
                <a:solidFill>
                  <a:srgbClr val="6b7280"/>
                </a:solidFill>
                <a:latin typeface="맑은 고딕"/>
                <a:ea typeface="맑은 고딕"/>
              </a:rPr>
              <a:t>리뷰 크롤링</a:t>
            </a:r>
            <a:endParaRPr b="0" lang="en-US" sz="115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4" name="Text 7"/>
          <p:cNvSpPr/>
          <p:nvPr/>
        </p:nvSpPr>
        <p:spPr>
          <a:xfrm>
            <a:off x="2206800" y="3477240"/>
            <a:ext cx="310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ca311"/>
                </a:solidFill>
                <a:latin typeface="맑은 고딕"/>
                <a:ea typeface="맑은 고딕"/>
              </a:rPr>
              <a:t>›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2499480" y="2700000"/>
            <a:ext cx="1584360" cy="21938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2907720" y="2974320"/>
            <a:ext cx="767520" cy="767520"/>
          </a:xfrm>
          <a:prstGeom prst="ellipse">
            <a:avLst/>
          </a:prstGeom>
          <a:solidFill>
            <a:srgbClr val="1421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2907720" y="2974320"/>
            <a:ext cx="76752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2590920" y="3843000"/>
            <a:ext cx="1401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6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데이터 준비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2590920" y="4272840"/>
            <a:ext cx="1401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150" spc="-1" strike="noStrike">
                <a:solidFill>
                  <a:srgbClr val="6b7280"/>
                </a:solidFill>
                <a:latin typeface="맑은 고딕"/>
                <a:ea typeface="맑은 고딕"/>
              </a:rPr>
              <a:t>정제</a:t>
            </a:r>
            <a:r>
              <a:rPr b="0" lang="en-US" sz="1150" spc="-1" strike="noStrike">
                <a:solidFill>
                  <a:srgbClr val="6b7280"/>
                </a:solidFill>
                <a:latin typeface="맑은 고딕"/>
                <a:ea typeface="맑은 고딕"/>
              </a:rPr>
              <a:t>·</a:t>
            </a:r>
            <a:r>
              <a:rPr b="0" lang="ko-KR" sz="1150" spc="-1" strike="noStrike">
                <a:solidFill>
                  <a:srgbClr val="6b7280"/>
                </a:solidFill>
                <a:latin typeface="맑은 고딕"/>
                <a:ea typeface="맑은 고딕"/>
              </a:rPr>
              <a:t>라벨링</a:t>
            </a:r>
            <a:r>
              <a:rPr b="0" lang="en-US" sz="1150" spc="-1" strike="noStrike">
                <a:solidFill>
                  <a:srgbClr val="6b7280"/>
                </a:solidFill>
                <a:latin typeface="맑은 고딕"/>
                <a:ea typeface="맑은 고딕"/>
              </a:rPr>
              <a:t>·</a:t>
            </a:r>
            <a:r>
              <a:rPr b="0" lang="ko-KR" sz="1150" spc="-1" strike="noStrike">
                <a:solidFill>
                  <a:srgbClr val="6b7280"/>
                </a:solidFill>
                <a:latin typeface="맑은 고딕"/>
                <a:ea typeface="맑은 고딕"/>
              </a:rPr>
              <a:t>인코딩</a:t>
            </a:r>
            <a:endParaRPr b="0" lang="en-US" sz="115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4066200" y="3477240"/>
            <a:ext cx="310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ca311"/>
                </a:solidFill>
                <a:latin typeface="맑은 고딕"/>
                <a:ea typeface="맑은 고딕"/>
              </a:rPr>
              <a:t>›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4358520" y="2700000"/>
            <a:ext cx="1584360" cy="21938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2" name="Shape 15"/>
          <p:cNvSpPr/>
          <p:nvPr/>
        </p:nvSpPr>
        <p:spPr>
          <a:xfrm>
            <a:off x="4767120" y="2974320"/>
            <a:ext cx="767520" cy="767520"/>
          </a:xfrm>
          <a:prstGeom prst="ellipse">
            <a:avLst/>
          </a:prstGeom>
          <a:solidFill>
            <a:srgbClr val="fca3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4767120" y="2974320"/>
            <a:ext cx="76752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3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4449960" y="3843000"/>
            <a:ext cx="1401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6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모델 구축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4449960" y="4272840"/>
            <a:ext cx="1401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b7280"/>
                </a:solidFill>
                <a:latin typeface="맑은 고딕"/>
                <a:ea typeface="맑은 고딕"/>
              </a:rPr>
              <a:t>Embedding+LSTM</a:t>
            </a:r>
            <a:endParaRPr b="0" lang="en-US" sz="115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5925240" y="3477240"/>
            <a:ext cx="310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ca311"/>
                </a:solidFill>
                <a:latin typeface="맑은 고딕"/>
                <a:ea typeface="맑은 고딕"/>
              </a:rPr>
              <a:t>›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7" name="Shape 20"/>
          <p:cNvSpPr/>
          <p:nvPr/>
        </p:nvSpPr>
        <p:spPr>
          <a:xfrm>
            <a:off x="6217920" y="2700000"/>
            <a:ext cx="1584360" cy="21938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8" name="Shape 21"/>
          <p:cNvSpPr/>
          <p:nvPr/>
        </p:nvSpPr>
        <p:spPr>
          <a:xfrm>
            <a:off x="6626520" y="2974320"/>
            <a:ext cx="767520" cy="767520"/>
          </a:xfrm>
          <a:prstGeom prst="ellipse">
            <a:avLst/>
          </a:prstGeom>
          <a:solidFill>
            <a:srgbClr val="1421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39" name="Text 22"/>
          <p:cNvSpPr/>
          <p:nvPr/>
        </p:nvSpPr>
        <p:spPr>
          <a:xfrm>
            <a:off x="6626520" y="2974320"/>
            <a:ext cx="76752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0" name="Text 23"/>
          <p:cNvSpPr/>
          <p:nvPr/>
        </p:nvSpPr>
        <p:spPr>
          <a:xfrm>
            <a:off x="6309360" y="3843000"/>
            <a:ext cx="1401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6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모델 학습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6309360" y="4272840"/>
            <a:ext cx="1401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b7280"/>
                </a:solidFill>
                <a:latin typeface="맑은 고딕"/>
                <a:ea typeface="맑은 고딕"/>
              </a:rPr>
              <a:t>Early Stopping</a:t>
            </a:r>
            <a:endParaRPr b="0" lang="en-US" sz="115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2" name="Text 25"/>
          <p:cNvSpPr/>
          <p:nvPr/>
        </p:nvSpPr>
        <p:spPr>
          <a:xfrm>
            <a:off x="7784640" y="3477240"/>
            <a:ext cx="310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ca311"/>
                </a:solidFill>
                <a:latin typeface="맑은 고딕"/>
                <a:ea typeface="맑은 고딕"/>
              </a:rPr>
              <a:t>›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3" name="Shape 26"/>
          <p:cNvSpPr/>
          <p:nvPr/>
        </p:nvSpPr>
        <p:spPr>
          <a:xfrm>
            <a:off x="8077320" y="2700000"/>
            <a:ext cx="1584360" cy="21938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4" name="Shape 27"/>
          <p:cNvSpPr/>
          <p:nvPr/>
        </p:nvSpPr>
        <p:spPr>
          <a:xfrm>
            <a:off x="8485560" y="2974320"/>
            <a:ext cx="767520" cy="767520"/>
          </a:xfrm>
          <a:prstGeom prst="ellipse">
            <a:avLst/>
          </a:prstGeom>
          <a:solidFill>
            <a:srgbClr val="fca3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5" name="Text 28"/>
          <p:cNvSpPr/>
          <p:nvPr/>
        </p:nvSpPr>
        <p:spPr>
          <a:xfrm>
            <a:off x="8485560" y="2974320"/>
            <a:ext cx="76752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5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6" name="Text 29"/>
          <p:cNvSpPr/>
          <p:nvPr/>
        </p:nvSpPr>
        <p:spPr>
          <a:xfrm>
            <a:off x="8168760" y="3843000"/>
            <a:ext cx="1401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6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성능 평가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7" name="Text 30"/>
          <p:cNvSpPr/>
          <p:nvPr/>
        </p:nvSpPr>
        <p:spPr>
          <a:xfrm>
            <a:off x="8168760" y="4272840"/>
            <a:ext cx="1401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150" spc="-1" strike="noStrike">
                <a:solidFill>
                  <a:srgbClr val="6b7280"/>
                </a:solidFill>
                <a:latin typeface="맑은 고딕"/>
                <a:ea typeface="맑은 고딕"/>
              </a:rPr>
              <a:t>정확도</a:t>
            </a:r>
            <a:r>
              <a:rPr b="0" lang="en-US" sz="1150" spc="-1" strike="noStrike">
                <a:solidFill>
                  <a:srgbClr val="6b7280"/>
                </a:solidFill>
                <a:latin typeface="맑은 고딕"/>
                <a:ea typeface="맑은 고딕"/>
              </a:rPr>
              <a:t>·F1·</a:t>
            </a:r>
            <a:r>
              <a:rPr b="0" lang="ko-KR" sz="1150" spc="-1" strike="noStrike">
                <a:solidFill>
                  <a:srgbClr val="6b7280"/>
                </a:solidFill>
                <a:latin typeface="맑은 고딕"/>
                <a:ea typeface="맑은 고딕"/>
              </a:rPr>
              <a:t>혼동행렬</a:t>
            </a:r>
            <a:endParaRPr b="0" lang="en-US" sz="115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8" name="Text 31"/>
          <p:cNvSpPr/>
          <p:nvPr/>
        </p:nvSpPr>
        <p:spPr>
          <a:xfrm>
            <a:off x="9644040" y="3477240"/>
            <a:ext cx="310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ca311"/>
                </a:solidFill>
                <a:latin typeface="맑은 고딕"/>
                <a:ea typeface="맑은 고딕"/>
              </a:rPr>
              <a:t>›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9" name="Shape 32"/>
          <p:cNvSpPr/>
          <p:nvPr/>
        </p:nvSpPr>
        <p:spPr>
          <a:xfrm>
            <a:off x="9936360" y="2700000"/>
            <a:ext cx="1584360" cy="21938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0" name="Shape 33"/>
          <p:cNvSpPr/>
          <p:nvPr/>
        </p:nvSpPr>
        <p:spPr>
          <a:xfrm>
            <a:off x="10344960" y="2974320"/>
            <a:ext cx="767520" cy="767520"/>
          </a:xfrm>
          <a:prstGeom prst="ellipse">
            <a:avLst/>
          </a:prstGeom>
          <a:solidFill>
            <a:srgbClr val="1421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51" name="Text 34"/>
          <p:cNvSpPr/>
          <p:nvPr/>
        </p:nvSpPr>
        <p:spPr>
          <a:xfrm>
            <a:off x="10344960" y="2974320"/>
            <a:ext cx="76752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2" name="Text 35"/>
          <p:cNvSpPr/>
          <p:nvPr/>
        </p:nvSpPr>
        <p:spPr>
          <a:xfrm>
            <a:off x="10027800" y="3843000"/>
            <a:ext cx="1401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6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배포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3" name="Text 36"/>
          <p:cNvSpPr/>
          <p:nvPr/>
        </p:nvSpPr>
        <p:spPr>
          <a:xfrm>
            <a:off x="10027800" y="4272840"/>
            <a:ext cx="1401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640080" y="502920"/>
            <a:ext cx="776520" cy="776520"/>
          </a:xfrm>
          <a:prstGeom prst="ellipse">
            <a:avLst/>
          </a:prstGeom>
          <a:solidFill>
            <a:srgbClr val="fca3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5" name="Text 1"/>
          <p:cNvSpPr/>
          <p:nvPr/>
        </p:nvSpPr>
        <p:spPr>
          <a:xfrm>
            <a:off x="640080" y="50292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01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6" name="Text 2"/>
          <p:cNvSpPr/>
          <p:nvPr/>
        </p:nvSpPr>
        <p:spPr>
          <a:xfrm>
            <a:off x="1600200" y="457200"/>
            <a:ext cx="9920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30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데이터 수집</a:t>
            </a:r>
            <a:endParaRPr b="0" lang="en-US" sz="3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7" name="Text 3"/>
          <p:cNvSpPr/>
          <p:nvPr/>
        </p:nvSpPr>
        <p:spPr>
          <a:xfrm>
            <a:off x="1600200" y="1078920"/>
            <a:ext cx="9920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640080" y="1737360"/>
            <a:ext cx="4296960" cy="429696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9" name="Text 5"/>
          <p:cNvSpPr/>
          <p:nvPr/>
        </p:nvSpPr>
        <p:spPr>
          <a:xfrm>
            <a:off x="960120" y="196596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0492f"/>
                </a:solidFill>
                <a:latin typeface="맑은 고딕"/>
                <a:ea typeface="맑은 고딕"/>
              </a:rPr>
              <a:t>⚠ </a:t>
            </a:r>
            <a:r>
              <a:rPr b="1" lang="ko-KR" sz="1800" spc="-1" strike="noStrike">
                <a:solidFill>
                  <a:srgbClr val="c0492f"/>
                </a:solidFill>
                <a:latin typeface="맑은 고딕"/>
                <a:ea typeface="맑은 고딕"/>
              </a:rPr>
              <a:t>문제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0" name="Text 6"/>
          <p:cNvSpPr/>
          <p:nvPr/>
        </p:nvSpPr>
        <p:spPr>
          <a:xfrm>
            <a:off x="960120" y="2514600"/>
            <a:ext cx="3748320" cy="32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f2433"/>
              </a:buClr>
              <a:buFont typeface="Symbol"/>
              <a:buChar char=""/>
            </a:pPr>
            <a:r>
              <a:rPr b="0" lang="en-US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douban(</a:t>
            </a:r>
            <a:r>
              <a:rPr b="0" lang="ko-KR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豆瓣</a:t>
            </a:r>
            <a:r>
              <a:rPr b="0" lang="en-US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) </a:t>
            </a:r>
            <a:r>
              <a:rPr b="0" lang="ko-KR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영화 리뷰 사이트에서 리뷰를 수집</a:t>
            </a:r>
            <a:endParaRPr b="0" lang="en-US" sz="1450" spc="-1" strike="noStrike">
              <a:solidFill>
                <a:srgbClr val="000000"/>
              </a:solidFill>
              <a:latin typeface="Noto Sans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f2433"/>
              </a:buClr>
              <a:buFont typeface="Symbol"/>
              <a:buChar char=""/>
            </a:pPr>
            <a:r>
              <a:rPr b="0" lang="ko-KR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봇 탐지</a:t>
            </a:r>
            <a:r>
              <a:rPr b="0" lang="en-US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·</a:t>
            </a:r>
            <a:r>
              <a:rPr b="0" lang="ko-KR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차단으로 접근이 반복적으로 막힘</a:t>
            </a:r>
            <a:endParaRPr b="0" lang="en-US" sz="1450" spc="-1" strike="noStrike">
              <a:solidFill>
                <a:srgbClr val="000000"/>
              </a:solidFill>
              <a:latin typeface="Noto Sans KR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433"/>
              </a:buClr>
              <a:buFont typeface="Symbol"/>
              <a:buChar char=""/>
            </a:pPr>
            <a:r>
              <a:rPr b="0" lang="en-US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requests </a:t>
            </a:r>
            <a:r>
              <a:rPr b="0" lang="ko-KR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요청은 </a:t>
            </a:r>
            <a:r>
              <a:rPr b="0" lang="en-US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TLS </a:t>
            </a:r>
            <a:r>
              <a:rPr b="0" lang="ko-KR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지문</a:t>
            </a:r>
            <a:r>
              <a:rPr b="0" lang="en-US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·</a:t>
            </a:r>
            <a:r>
              <a:rPr b="0" lang="ko-KR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헤더로 곧바로 차단</a:t>
            </a:r>
            <a:endParaRPr b="0" lang="en-US" sz="145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1" name="Text 7"/>
          <p:cNvSpPr/>
          <p:nvPr/>
        </p:nvSpPr>
        <p:spPr>
          <a:xfrm>
            <a:off x="5486400" y="1620000"/>
            <a:ext cx="6034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2e7d5b"/>
                </a:solidFill>
                <a:latin typeface="맑은 고딕"/>
                <a:ea typeface="맑은 고딕"/>
              </a:rPr>
              <a:t>사용된 라이브러리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5486400" y="2168640"/>
            <a:ext cx="6034320" cy="10782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5715000" y="2433960"/>
            <a:ext cx="547920" cy="547920"/>
          </a:xfrm>
          <a:prstGeom prst="ellipse">
            <a:avLst/>
          </a:prstGeom>
          <a:solidFill>
            <a:srgbClr val="fca3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5715000" y="243396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6446520" y="2333160"/>
            <a:ext cx="4937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BeautifulSoup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6446520" y="2735640"/>
            <a:ext cx="4937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b7280"/>
                </a:solidFill>
                <a:latin typeface="맑은 고딕"/>
                <a:ea typeface="맑은 고딕"/>
              </a:rPr>
              <a:t>HTML </a:t>
            </a:r>
            <a:r>
              <a:rPr b="0" lang="ko-KR" sz="1300" spc="-1" strike="noStrike">
                <a:solidFill>
                  <a:srgbClr val="6b7280"/>
                </a:solidFill>
                <a:latin typeface="맑은 고딕"/>
                <a:ea typeface="맑은 고딕"/>
              </a:rPr>
              <a:t>파싱 — 리뷰 텍스트</a:t>
            </a:r>
            <a:r>
              <a:rPr b="0" lang="en-US" sz="1300" spc="-1" strike="noStrike">
                <a:solidFill>
                  <a:srgbClr val="6b7280"/>
                </a:solidFill>
                <a:latin typeface="맑은 고딕"/>
                <a:ea typeface="맑은 고딕"/>
              </a:rPr>
              <a:t>·</a:t>
            </a:r>
            <a:r>
              <a:rPr b="0" lang="ko-KR" sz="1300" spc="-1" strike="noStrike">
                <a:solidFill>
                  <a:srgbClr val="6b7280"/>
                </a:solidFill>
                <a:latin typeface="맑은 고딕"/>
                <a:ea typeface="맑은 고딕"/>
              </a:rPr>
              <a:t>평점 추출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5486400" y="3375720"/>
            <a:ext cx="6034320" cy="10782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5715000" y="3640680"/>
            <a:ext cx="547920" cy="547920"/>
          </a:xfrm>
          <a:prstGeom prst="ellipse">
            <a:avLst/>
          </a:prstGeom>
          <a:solidFill>
            <a:srgbClr val="fca3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5715000" y="364068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6446520" y="3540240"/>
            <a:ext cx="4937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curl-cffi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1" name="Text 17"/>
          <p:cNvSpPr/>
          <p:nvPr/>
        </p:nvSpPr>
        <p:spPr>
          <a:xfrm>
            <a:off x="6446520" y="3942720"/>
            <a:ext cx="4937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300" spc="-1" strike="noStrike">
                <a:solidFill>
                  <a:srgbClr val="6b7280"/>
                </a:solidFill>
                <a:latin typeface="맑은 고딕"/>
                <a:ea typeface="맑은 고딕"/>
              </a:rPr>
              <a:t>실제 브라우저의 </a:t>
            </a:r>
            <a:r>
              <a:rPr b="0" lang="en-US" sz="1300" spc="-1" strike="noStrike">
                <a:solidFill>
                  <a:srgbClr val="6b7280"/>
                </a:solidFill>
                <a:latin typeface="맑은 고딕"/>
                <a:ea typeface="맑은 고딕"/>
              </a:rPr>
              <a:t>TLS </a:t>
            </a:r>
            <a:r>
              <a:rPr b="0" lang="ko-KR" sz="1300" spc="-1" strike="noStrike">
                <a:solidFill>
                  <a:srgbClr val="6b7280"/>
                </a:solidFill>
                <a:latin typeface="맑은 고딕"/>
                <a:ea typeface="맑은 고딕"/>
              </a:rPr>
              <a:t>지문을 위장해 탐지 우회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5486400" y="4582800"/>
            <a:ext cx="6034320" cy="10782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5715000" y="4847760"/>
            <a:ext cx="547920" cy="547920"/>
          </a:xfrm>
          <a:prstGeom prst="ellipse">
            <a:avLst/>
          </a:prstGeom>
          <a:solidFill>
            <a:srgbClr val="fca3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5715000" y="484776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5" name="Text 21"/>
          <p:cNvSpPr/>
          <p:nvPr/>
        </p:nvSpPr>
        <p:spPr>
          <a:xfrm>
            <a:off x="6446520" y="4747320"/>
            <a:ext cx="4937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Selenium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6" name="Text 22"/>
          <p:cNvSpPr/>
          <p:nvPr/>
        </p:nvSpPr>
        <p:spPr>
          <a:xfrm>
            <a:off x="6446520" y="5149440"/>
            <a:ext cx="4937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300" spc="-1" strike="noStrike">
                <a:solidFill>
                  <a:srgbClr val="6b7280"/>
                </a:solidFill>
                <a:latin typeface="맑은 고딕"/>
                <a:ea typeface="맑은 고딕"/>
              </a:rPr>
              <a:t>동적 렌더링 페이지 처리 및 차단 회피</a:t>
            </a:r>
            <a:endParaRPr b="0" lang="en-US" sz="13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640080" y="502920"/>
            <a:ext cx="776520" cy="776520"/>
          </a:xfrm>
          <a:prstGeom prst="ellipse">
            <a:avLst/>
          </a:prstGeom>
          <a:solidFill>
            <a:srgbClr val="fca3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8" name="Text 1"/>
          <p:cNvSpPr/>
          <p:nvPr/>
        </p:nvSpPr>
        <p:spPr>
          <a:xfrm>
            <a:off x="640080" y="50292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02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9" name="Text 2"/>
          <p:cNvSpPr/>
          <p:nvPr/>
        </p:nvSpPr>
        <p:spPr>
          <a:xfrm>
            <a:off x="1600200" y="457200"/>
            <a:ext cx="9920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30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데이터 준비</a:t>
            </a:r>
            <a:endParaRPr b="0" lang="en-US" sz="3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0" name="Text 3"/>
          <p:cNvSpPr/>
          <p:nvPr/>
        </p:nvSpPr>
        <p:spPr>
          <a:xfrm>
            <a:off x="1600200" y="1078920"/>
            <a:ext cx="9920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1" name="Shape 4"/>
          <p:cNvSpPr/>
          <p:nvPr/>
        </p:nvSpPr>
        <p:spPr>
          <a:xfrm>
            <a:off x="640080" y="1920240"/>
            <a:ext cx="4114080" cy="3931200"/>
          </a:xfrm>
          <a:prstGeom prst="roundRect">
            <a:avLst>
              <a:gd name="adj" fmla="val 1860"/>
            </a:avLst>
          </a:prstGeom>
          <a:solidFill>
            <a:srgbClr val="14213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82" name="Text 5"/>
          <p:cNvSpPr/>
          <p:nvPr/>
        </p:nvSpPr>
        <p:spPr>
          <a:xfrm>
            <a:off x="640080" y="2286000"/>
            <a:ext cx="4114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1" strike="noStrike">
                <a:solidFill>
                  <a:srgbClr val="cbd5e6"/>
                </a:solidFill>
                <a:latin typeface="맑은 고딕"/>
                <a:ea typeface="맑은 고딕"/>
              </a:rPr>
              <a:t>수집 데이터 규모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3" name="Text 6"/>
          <p:cNvSpPr/>
          <p:nvPr/>
        </p:nvSpPr>
        <p:spPr>
          <a:xfrm>
            <a:off x="640080" y="2743200"/>
            <a:ext cx="41140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pc="-1" strike="noStrike">
                <a:solidFill>
                  <a:srgbClr val="fca311"/>
                </a:solidFill>
                <a:latin typeface="맑은 고딕"/>
                <a:ea typeface="맑은 고딕"/>
              </a:rPr>
              <a:t>13.31</a:t>
            </a:r>
            <a:endParaRPr b="0" lang="en-US" sz="8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4" name="Text 7"/>
          <p:cNvSpPr/>
          <p:nvPr/>
        </p:nvSpPr>
        <p:spPr>
          <a:xfrm>
            <a:off x="640080" y="4114800"/>
            <a:ext cx="4114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GB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5" name="Text 8"/>
          <p:cNvSpPr/>
          <p:nvPr/>
        </p:nvSpPr>
        <p:spPr>
          <a:xfrm>
            <a:off x="640080" y="4846320"/>
            <a:ext cx="4114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6" name="Shape 9"/>
          <p:cNvSpPr/>
          <p:nvPr/>
        </p:nvSpPr>
        <p:spPr>
          <a:xfrm>
            <a:off x="5120640" y="1920240"/>
            <a:ext cx="6400080" cy="1828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5394960" y="2103120"/>
            <a:ext cx="5851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0492f"/>
                </a:solidFill>
                <a:latin typeface="맑은 고딕"/>
                <a:ea typeface="맑은 고딕"/>
              </a:rPr>
              <a:t>⚠ </a:t>
            </a:r>
            <a:r>
              <a:rPr b="1" lang="ko-KR" sz="1700" spc="-1" strike="noStrike">
                <a:solidFill>
                  <a:srgbClr val="c0492f"/>
                </a:solidFill>
                <a:latin typeface="맑은 고딕"/>
                <a:ea typeface="맑은 고딕"/>
              </a:rPr>
              <a:t>문제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5394960" y="2541960"/>
            <a:ext cx="5851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</a:pPr>
            <a:endParaRPr b="0" lang="en-US" sz="1450" spc="-1" strike="noStrike">
              <a:solidFill>
                <a:srgbClr val="000000"/>
              </a:solidFill>
              <a:latin typeface="Noto Sans KR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433"/>
              </a:buClr>
              <a:buFont typeface="Symbol"/>
              <a:buChar char=""/>
            </a:pPr>
            <a:r>
              <a:rPr b="0" lang="ko-KR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수집된 데이터가 너무 많아서 모든 데이터를 끝까지 학습하려면 많은 시간이 소요</a:t>
            </a:r>
            <a:endParaRPr b="0" lang="en-US" sz="145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9" name="Shape 12"/>
          <p:cNvSpPr/>
          <p:nvPr/>
        </p:nvSpPr>
        <p:spPr>
          <a:xfrm>
            <a:off x="5120640" y="4023360"/>
            <a:ext cx="6400080" cy="1828080"/>
          </a:xfrm>
          <a:prstGeom prst="roundRect">
            <a:avLst>
              <a:gd name="adj" fmla="val 4000"/>
            </a:avLst>
          </a:prstGeom>
          <a:solidFill>
            <a:srgbClr val="eaf6e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0" name="Text 13"/>
          <p:cNvSpPr/>
          <p:nvPr/>
        </p:nvSpPr>
        <p:spPr>
          <a:xfrm>
            <a:off x="5394960" y="4206240"/>
            <a:ext cx="5851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e7d5b"/>
                </a:solidFill>
                <a:latin typeface="맑은 고딕"/>
                <a:ea typeface="맑은 고딕"/>
              </a:rPr>
              <a:t>✓ </a:t>
            </a:r>
            <a:r>
              <a:rPr b="1" lang="ko-KR" sz="1700" spc="-1" strike="noStrike">
                <a:solidFill>
                  <a:srgbClr val="2e7d5b"/>
                </a:solidFill>
                <a:latin typeface="맑은 고딕"/>
                <a:ea typeface="맑은 고딕"/>
              </a:rPr>
              <a:t>해결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5394960" y="4645080"/>
            <a:ext cx="5851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f2433"/>
              </a:buClr>
              <a:buFont typeface="Symbol"/>
              <a:buChar char=""/>
            </a:pPr>
            <a:r>
              <a:rPr b="0" lang="en-US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Early Stopping</a:t>
            </a:r>
            <a:endParaRPr b="0" lang="en-US" sz="1450" spc="-1" strike="noStrike">
              <a:solidFill>
                <a:srgbClr val="000000"/>
              </a:solidFill>
              <a:latin typeface="Noto Sans KR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433"/>
              </a:buClr>
              <a:buFont typeface="Symbol"/>
              <a:buChar char=""/>
            </a:pPr>
            <a:r>
              <a:rPr b="0" lang="ko-KR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불필요한 추가 학습을 막아 시간을 대폭 절약</a:t>
            </a:r>
            <a:endParaRPr b="0" lang="en-US" sz="145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640080" y="502920"/>
            <a:ext cx="776520" cy="776520"/>
          </a:xfrm>
          <a:prstGeom prst="ellipse">
            <a:avLst/>
          </a:prstGeom>
          <a:solidFill>
            <a:srgbClr val="fca3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3" name="Text 1"/>
          <p:cNvSpPr/>
          <p:nvPr/>
        </p:nvSpPr>
        <p:spPr>
          <a:xfrm>
            <a:off x="640080" y="50292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03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4" name="Text 2"/>
          <p:cNvSpPr/>
          <p:nvPr/>
        </p:nvSpPr>
        <p:spPr>
          <a:xfrm>
            <a:off x="1600200" y="457200"/>
            <a:ext cx="9920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30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모델 구축</a:t>
            </a:r>
            <a:endParaRPr b="0" lang="en-US" sz="3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5" name="Text 3"/>
          <p:cNvSpPr/>
          <p:nvPr/>
        </p:nvSpPr>
        <p:spPr>
          <a:xfrm>
            <a:off x="1600200" y="1078920"/>
            <a:ext cx="9920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6" name="Shape 4"/>
          <p:cNvSpPr/>
          <p:nvPr/>
        </p:nvSpPr>
        <p:spPr>
          <a:xfrm>
            <a:off x="640080" y="1920240"/>
            <a:ext cx="4114080" cy="3931200"/>
          </a:xfrm>
          <a:prstGeom prst="roundRect">
            <a:avLst>
              <a:gd name="adj" fmla="val 1860"/>
            </a:avLst>
          </a:prstGeom>
          <a:solidFill>
            <a:srgbClr val="14213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97" name="Text 5"/>
          <p:cNvSpPr/>
          <p:nvPr/>
        </p:nvSpPr>
        <p:spPr>
          <a:xfrm>
            <a:off x="640080" y="2286000"/>
            <a:ext cx="4114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1" strike="noStrike">
                <a:solidFill>
                  <a:srgbClr val="cbd5e6"/>
                </a:solidFill>
                <a:latin typeface="맑은 고딕"/>
                <a:ea typeface="맑은 고딕"/>
              </a:rPr>
              <a:t>총 학습 파라미터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8" name="Text 6"/>
          <p:cNvSpPr/>
          <p:nvPr/>
        </p:nvSpPr>
        <p:spPr>
          <a:xfrm>
            <a:off x="640080" y="2743200"/>
            <a:ext cx="41140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ca311"/>
                </a:solidFill>
                <a:latin typeface="맑은 고딕"/>
                <a:ea typeface="맑은 고딕"/>
              </a:rPr>
              <a:t>665,938</a:t>
            </a: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9" name="Text 7"/>
          <p:cNvSpPr/>
          <p:nvPr/>
        </p:nvSpPr>
        <p:spPr>
          <a:xfrm>
            <a:off x="640080" y="4114800"/>
            <a:ext cx="4114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8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개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640080" y="4846320"/>
            <a:ext cx="4114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1" name="Shape 9"/>
          <p:cNvSpPr/>
          <p:nvPr/>
        </p:nvSpPr>
        <p:spPr>
          <a:xfrm>
            <a:off x="5119920" y="1980000"/>
            <a:ext cx="6400080" cy="19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5394960" y="2103120"/>
            <a:ext cx="5851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7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신경망 구조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5394960" y="2541960"/>
            <a:ext cx="5851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 defTabSz="914400">
              <a:lnSpc>
                <a:spcPct val="100000"/>
              </a:lnSpc>
              <a:spcAft>
                <a:spcPts val="601"/>
              </a:spcAft>
              <a:buClr>
                <a:srgbClr val="3d5a98"/>
              </a:buClr>
              <a:buFont typeface="Arial"/>
              <a:buChar char="•"/>
            </a:pPr>
            <a:r>
              <a:rPr b="0" lang="ko-KR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입력</a:t>
            </a: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: </a:t>
            </a:r>
            <a:r>
              <a:rPr b="0" lang="ko-KR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정수 인코딩 </a:t>
            </a: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+ </a:t>
            </a:r>
            <a:r>
              <a:rPr b="0" lang="ko-KR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패딩 </a:t>
            </a: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(max_len = 60)</a:t>
            </a:r>
            <a:endParaRPr b="0" lang="en-US" sz="1250" spc="-1" strike="noStrike">
              <a:solidFill>
                <a:srgbClr val="000000"/>
              </a:solidFill>
              <a:latin typeface="Noto Sans KR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601"/>
              </a:spcAft>
              <a:buClr>
                <a:srgbClr val="3d5a98"/>
              </a:buClr>
              <a:buFont typeface="Arial"/>
              <a:buChar char="•"/>
            </a:pP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Embedding (20,001 × 32) — </a:t>
            </a:r>
            <a:r>
              <a:rPr b="0" lang="ko-KR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단어를 </a:t>
            </a: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32</a:t>
            </a:r>
            <a:r>
              <a:rPr b="0" lang="ko-KR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차원 벡터로</a:t>
            </a:r>
            <a:endParaRPr b="0" lang="en-US" sz="1250" spc="-1" strike="noStrike">
              <a:solidFill>
                <a:srgbClr val="000000"/>
              </a:solidFill>
              <a:latin typeface="Noto Sans KR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601"/>
              </a:spcAft>
              <a:buClr>
                <a:srgbClr val="3d5a98"/>
              </a:buClr>
              <a:buFont typeface="Arial"/>
              <a:buChar char="•"/>
            </a:pP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LSTM (units = 64) — </a:t>
            </a:r>
            <a:r>
              <a:rPr b="0" lang="ko-KR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문맥</a:t>
            </a: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(</a:t>
            </a:r>
            <a:r>
              <a:rPr b="0" lang="ko-KR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순서</a:t>
            </a: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) </a:t>
            </a:r>
            <a:r>
              <a:rPr b="0" lang="ko-KR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정보 학습</a:t>
            </a:r>
            <a:endParaRPr b="0" lang="en-US" sz="1250" spc="-1" strike="noStrike">
              <a:solidFill>
                <a:srgbClr val="000000"/>
              </a:solidFill>
              <a:latin typeface="Noto Sans KR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601"/>
              </a:spcAft>
              <a:buClr>
                <a:srgbClr val="3d5a98"/>
              </a:buClr>
              <a:buFont typeface="Arial"/>
              <a:buChar char="•"/>
            </a:pP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Dense (16, tanh) — </a:t>
            </a:r>
            <a:r>
              <a:rPr b="0" lang="ko-KR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특징 압축</a:t>
            </a:r>
            <a:endParaRPr b="0" lang="en-US" sz="1250" spc="-1" strike="noStrike">
              <a:solidFill>
                <a:srgbClr val="000000"/>
              </a:solidFill>
              <a:latin typeface="Noto Sans KR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601"/>
              </a:spcAft>
              <a:buClr>
                <a:srgbClr val="3d5a98"/>
              </a:buClr>
              <a:buFont typeface="Arial"/>
              <a:buChar char="•"/>
            </a:pP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Dense (2, softmax) → [</a:t>
            </a:r>
            <a:r>
              <a:rPr b="0" lang="ko-KR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부정 </a:t>
            </a: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· </a:t>
            </a:r>
            <a:r>
              <a:rPr b="0" lang="ko-KR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긍정</a:t>
            </a: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]</a:t>
            </a:r>
            <a:endParaRPr b="0" lang="en-US" sz="125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4" name="Shape 12"/>
          <p:cNvSpPr/>
          <p:nvPr/>
        </p:nvSpPr>
        <p:spPr>
          <a:xfrm>
            <a:off x="5120640" y="4023360"/>
            <a:ext cx="6400080" cy="182808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5394960" y="4206240"/>
            <a:ext cx="5851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7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학습 설계 </a:t>
            </a:r>
            <a:r>
              <a:rPr b="1" lang="en-US" sz="17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(compile)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6" name="Text 14"/>
          <p:cNvSpPr/>
          <p:nvPr/>
        </p:nvSpPr>
        <p:spPr>
          <a:xfrm>
            <a:off x="5394960" y="4645080"/>
            <a:ext cx="5851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 defTabSz="914400">
              <a:lnSpc>
                <a:spcPct val="100000"/>
              </a:lnSpc>
              <a:spcAft>
                <a:spcPts val="601"/>
              </a:spcAft>
              <a:buClr>
                <a:srgbClr val="3d5a98"/>
              </a:buClr>
              <a:buFont typeface="Arial"/>
              <a:buChar char="•"/>
            </a:pPr>
            <a:r>
              <a:rPr b="0" lang="ko-KR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손실 함수</a:t>
            </a: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: binary_crossentropy</a:t>
            </a:r>
            <a:endParaRPr b="0" lang="en-US" sz="1250" spc="-1" strike="noStrike">
              <a:solidFill>
                <a:srgbClr val="000000"/>
              </a:solidFill>
              <a:latin typeface="Noto Sans KR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601"/>
              </a:spcAft>
              <a:buClr>
                <a:srgbClr val="3d5a98"/>
              </a:buClr>
              <a:buFont typeface="Arial"/>
              <a:buChar char="•"/>
            </a:pPr>
            <a:r>
              <a:rPr b="0" lang="ko-KR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최적화</a:t>
            </a: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: RMSprop (learning_rate = 0.001)</a:t>
            </a:r>
            <a:endParaRPr b="0" lang="en-US" sz="1250" spc="-1" strike="noStrike">
              <a:solidFill>
                <a:srgbClr val="000000"/>
              </a:solidFill>
              <a:latin typeface="Noto Sans KR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601"/>
              </a:spcAft>
              <a:buClr>
                <a:srgbClr val="3d5a98"/>
              </a:buClr>
              <a:buFont typeface="Arial"/>
              <a:buChar char="•"/>
            </a:pPr>
            <a:r>
              <a:rPr b="0" lang="ko-KR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평가지표</a:t>
            </a: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: accuracy</a:t>
            </a:r>
            <a:endParaRPr b="0" lang="en-US" sz="1250" spc="-1" strike="noStrike">
              <a:solidFill>
                <a:srgbClr val="000000"/>
              </a:solidFill>
              <a:latin typeface="Noto Sans KR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601"/>
              </a:spcAft>
              <a:buClr>
                <a:srgbClr val="3d5a98"/>
              </a:buClr>
              <a:buFont typeface="Arial"/>
              <a:buChar char="•"/>
            </a:pPr>
            <a:r>
              <a:rPr b="0" lang="ko-KR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입력</a:t>
            </a: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: Integer Encoding → Padding  /  </a:t>
            </a:r>
            <a:r>
              <a:rPr b="0" lang="ko-KR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정답</a:t>
            </a:r>
            <a:r>
              <a:rPr b="0" lang="en-US" sz="12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: One-hot</a:t>
            </a:r>
            <a:endParaRPr b="0" lang="en-US" sz="125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640080" y="502920"/>
            <a:ext cx="776520" cy="776520"/>
          </a:xfrm>
          <a:prstGeom prst="ellipse">
            <a:avLst/>
          </a:prstGeom>
          <a:solidFill>
            <a:srgbClr val="fca3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640080" y="50292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04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1600200" y="457200"/>
            <a:ext cx="9920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30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모델학습</a:t>
            </a:r>
            <a:endParaRPr b="0" lang="en-US" sz="3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1600200" y="1078920"/>
            <a:ext cx="9920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1" name="Shape 4"/>
          <p:cNvSpPr/>
          <p:nvPr/>
        </p:nvSpPr>
        <p:spPr>
          <a:xfrm>
            <a:off x="640080" y="1836000"/>
            <a:ext cx="5211360" cy="182808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960120" y="205740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0492f"/>
                </a:solidFill>
                <a:latin typeface="맑은 고딕"/>
                <a:ea typeface="맑은 고딕"/>
              </a:rPr>
              <a:t>⚠ </a:t>
            </a:r>
            <a:r>
              <a:rPr b="1" lang="ko-KR" sz="1800" spc="-1" strike="noStrike">
                <a:solidFill>
                  <a:srgbClr val="c0492f"/>
                </a:solidFill>
                <a:latin typeface="맑은 고딕"/>
                <a:ea typeface="맑은 고딕"/>
              </a:rPr>
              <a:t>고민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960120" y="2606040"/>
            <a:ext cx="466272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f2433"/>
              </a:buClr>
              <a:buFont typeface="Symbol"/>
              <a:buChar char=""/>
            </a:pPr>
            <a:r>
              <a:rPr b="0" lang="en-US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Early Stopping</a:t>
            </a:r>
            <a:r>
              <a:rPr b="0" lang="ko-KR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으로 시간은 줄일 수 있었지만</a:t>
            </a:r>
            <a:r>
              <a:rPr b="0" lang="en-US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,</a:t>
            </a:r>
            <a:r>
              <a:rPr b="0" lang="ko-KR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정확히 </a:t>
            </a:r>
            <a:r>
              <a:rPr b="0" lang="en-US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'</a:t>
            </a:r>
            <a:r>
              <a:rPr b="0" lang="ko-KR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어느 지점</a:t>
            </a:r>
            <a:r>
              <a:rPr b="0" lang="en-US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'</a:t>
            </a:r>
            <a:r>
              <a:rPr b="0" lang="ko-KR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에서 멈출지 기준 선정이 필요</a:t>
            </a:r>
            <a:r>
              <a:rPr b="0" lang="en-US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.</a:t>
            </a:r>
            <a:endParaRPr b="0" lang="en-US" sz="145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6263640" y="1828800"/>
            <a:ext cx="5257080" cy="4114080"/>
          </a:xfrm>
          <a:prstGeom prst="roundRect">
            <a:avLst>
              <a:gd name="adj" fmla="val 1778"/>
            </a:avLst>
          </a:prstGeom>
          <a:solidFill>
            <a:srgbClr val="14213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6583680" y="2697480"/>
            <a:ext cx="46627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6583680" y="3381480"/>
            <a:ext cx="46627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400" spc="-1" strike="noStrike">
                <a:solidFill>
                  <a:srgbClr val="fca311"/>
                </a:solidFill>
                <a:latin typeface="맑은 고딕"/>
                <a:ea typeface="맑은 고딕"/>
              </a:rPr>
              <a:t>30</a:t>
            </a:r>
            <a:r>
              <a:rPr b="1" lang="ko-KR" sz="6400" spc="-1" strike="noStrike">
                <a:solidFill>
                  <a:srgbClr val="fca311"/>
                </a:solidFill>
                <a:latin typeface="맑은 고딕"/>
                <a:ea typeface="맑은 고딕"/>
              </a:rPr>
              <a:t>분</a:t>
            </a:r>
            <a:endParaRPr b="0" lang="en-US" sz="6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6583680" y="5220000"/>
            <a:ext cx="4662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학습 후 </a:t>
            </a:r>
            <a:r>
              <a:rPr b="1" lang="en-US" sz="18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Early Stop </a:t>
            </a:r>
            <a:r>
              <a:rPr b="1" lang="ko-KR" sz="18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실행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8" name="Shape 5"/>
          <p:cNvSpPr/>
          <p:nvPr/>
        </p:nvSpPr>
        <p:spPr>
          <a:xfrm>
            <a:off x="640080" y="4140000"/>
            <a:ext cx="5211360" cy="1828080"/>
          </a:xfrm>
          <a:prstGeom prst="roundRect">
            <a:avLst>
              <a:gd name="adj" fmla="val 4000"/>
            </a:avLst>
          </a:prstGeom>
          <a:solidFill>
            <a:srgbClr val="eaf6e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9" name="Text 32"/>
          <p:cNvSpPr/>
          <p:nvPr/>
        </p:nvSpPr>
        <p:spPr>
          <a:xfrm>
            <a:off x="852120" y="4523400"/>
            <a:ext cx="466272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1199"/>
              </a:spcAft>
            </a:pPr>
            <a:endParaRPr b="0" lang="en-US" sz="1450" spc="-1" strike="noStrike">
              <a:solidFill>
                <a:srgbClr val="000000"/>
              </a:solidFill>
              <a:latin typeface="Noto Sans KR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f2433"/>
              </a:buClr>
              <a:buFont typeface="Symbol"/>
              <a:buChar char=""/>
            </a:pPr>
            <a:r>
              <a:rPr b="0" lang="ko-KR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일반적으로는 검증 손실</a:t>
            </a:r>
            <a:r>
              <a:rPr b="0" lang="en-US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(val_loss)</a:t>
            </a:r>
            <a:r>
              <a:rPr b="0" lang="ko-KR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이 더 이상 개선되지 않거나 학습 시간이 </a:t>
            </a:r>
            <a:r>
              <a:rPr b="0" lang="en-US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30</a:t>
            </a:r>
            <a:r>
              <a:rPr b="0" lang="ko-KR" sz="1450" spc="-1" strike="noStrike">
                <a:solidFill>
                  <a:srgbClr val="1f2433"/>
                </a:solidFill>
                <a:latin typeface="맑은 고딕"/>
                <a:ea typeface="맑은 고딕"/>
              </a:rPr>
              <a:t>분이 되었을 때 중단</a:t>
            </a:r>
            <a:endParaRPr b="0" lang="en-US" sz="145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0" name="Text 33"/>
          <p:cNvSpPr/>
          <p:nvPr/>
        </p:nvSpPr>
        <p:spPr>
          <a:xfrm>
            <a:off x="900000" y="4448880"/>
            <a:ext cx="5851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e7d5b"/>
                </a:solidFill>
                <a:latin typeface="맑은 고딕"/>
                <a:ea typeface="맑은 고딕"/>
              </a:rPr>
              <a:t>✓ </a:t>
            </a:r>
            <a:r>
              <a:rPr b="1" lang="ko-KR" sz="1700" spc="-1" strike="noStrike">
                <a:solidFill>
                  <a:srgbClr val="2e7d5b"/>
                </a:solidFill>
                <a:latin typeface="맑은 고딕"/>
                <a:ea typeface="맑은 고딕"/>
              </a:rPr>
              <a:t>해결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1" name="Text 37"/>
          <p:cNvSpPr/>
          <p:nvPr/>
        </p:nvSpPr>
        <p:spPr>
          <a:xfrm>
            <a:off x="6583680" y="2592000"/>
            <a:ext cx="4662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시간을 기준으로 학습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1"/>
          <p:cNvSpPr/>
          <p:nvPr/>
        </p:nvSpPr>
        <p:spPr>
          <a:xfrm>
            <a:off x="640080" y="502920"/>
            <a:ext cx="776520" cy="776520"/>
          </a:xfrm>
          <a:prstGeom prst="ellipse">
            <a:avLst/>
          </a:prstGeom>
          <a:solidFill>
            <a:srgbClr val="fca3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3" name="Text 26"/>
          <p:cNvSpPr/>
          <p:nvPr/>
        </p:nvSpPr>
        <p:spPr>
          <a:xfrm>
            <a:off x="640080" y="50292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05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4" name="Text 27"/>
          <p:cNvSpPr/>
          <p:nvPr/>
        </p:nvSpPr>
        <p:spPr>
          <a:xfrm>
            <a:off x="1600200" y="457200"/>
            <a:ext cx="9920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30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성능 평가</a:t>
            </a:r>
            <a:endParaRPr b="0" lang="en-US" sz="3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5" name="Text 39"/>
          <p:cNvSpPr/>
          <p:nvPr/>
        </p:nvSpPr>
        <p:spPr>
          <a:xfrm>
            <a:off x="640080" y="4297680"/>
            <a:ext cx="27424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21960" y="1440000"/>
            <a:ext cx="6997680" cy="5039640"/>
          </a:xfrm>
          <a:prstGeom prst="rect">
            <a:avLst/>
          </a:prstGeom>
          <a:ln w="0">
            <a:noFill/>
          </a:ln>
        </p:spPr>
      </p:pic>
      <p:pic>
        <p:nvPicPr>
          <p:cNvPr id="127" name="" descr=""/>
          <p:cNvPicPr/>
          <p:nvPr/>
        </p:nvPicPr>
        <p:blipFill>
          <a:blip r:embed="rId2"/>
          <a:stretch/>
        </p:blipFill>
        <p:spPr>
          <a:xfrm>
            <a:off x="7020000" y="1451160"/>
            <a:ext cx="5171760" cy="4970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640080" y="502920"/>
            <a:ext cx="776520" cy="776520"/>
          </a:xfrm>
          <a:prstGeom prst="ellipse">
            <a:avLst/>
          </a:prstGeom>
          <a:solidFill>
            <a:srgbClr val="fca3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640080" y="502920"/>
            <a:ext cx="7765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05</a:t>
            </a:r>
            <a:endParaRPr b="0" lang="en-US" sz="2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1600200" y="457200"/>
            <a:ext cx="9920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30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성능 평가</a:t>
            </a:r>
            <a:endParaRPr b="0" lang="en-US" sz="3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640080" y="1828800"/>
            <a:ext cx="2742480" cy="4114080"/>
          </a:xfrm>
          <a:prstGeom prst="roundRect">
            <a:avLst>
              <a:gd name="adj" fmla="val 2667"/>
            </a:avLst>
          </a:prstGeom>
          <a:solidFill>
            <a:srgbClr val="14213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aa3b2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640080" y="219456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700" spc="-1" strike="noStrike">
                <a:solidFill>
                  <a:srgbClr val="cbd5e6"/>
                </a:solidFill>
                <a:latin typeface="맑은 고딕"/>
                <a:ea typeface="맑은 고딕"/>
              </a:rPr>
              <a:t>정확도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640080" y="2834640"/>
            <a:ext cx="27424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pc="-1" strike="noStrike">
                <a:solidFill>
                  <a:srgbClr val="fca311"/>
                </a:solidFill>
                <a:latin typeface="맑은 고딕"/>
                <a:ea typeface="맑은 고딕"/>
              </a:rPr>
              <a:t>74.4%</a:t>
            </a:r>
            <a:endParaRPr b="0" lang="en-US" sz="5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640080" y="4297680"/>
            <a:ext cx="27424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3611880" y="1783080"/>
            <a:ext cx="438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4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클래스별 지표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graphicFrame>
        <p:nvGraphicFramePr>
          <p:cNvPr id="136" name="Chart 0"/>
          <p:cNvGraphicFramePr/>
          <p:nvPr/>
        </p:nvGraphicFramePr>
        <p:xfrm>
          <a:off x="3520440" y="2148840"/>
          <a:ext cx="4571280" cy="3656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7" name="Text 9"/>
          <p:cNvSpPr/>
          <p:nvPr/>
        </p:nvSpPr>
        <p:spPr>
          <a:xfrm>
            <a:off x="8275320" y="178308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4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혼동 행렬 </a:t>
            </a:r>
            <a:r>
              <a:rPr b="1" lang="en-US" sz="14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(Confusion Matrix)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graphicFrame>
        <p:nvGraphicFramePr>
          <p:cNvPr id="138" name="Table 0"/>
          <p:cNvGraphicFramePr/>
          <p:nvPr/>
        </p:nvGraphicFramePr>
        <p:xfrm>
          <a:off x="8275320" y="2194560"/>
          <a:ext cx="3245760" cy="2240280"/>
        </p:xfrm>
        <a:graphic>
          <a:graphicData uri="http://schemas.openxmlformats.org/drawingml/2006/table">
            <a:tbl>
              <a:tblPr/>
              <a:tblGrid>
                <a:gridCol w="1051560"/>
                <a:gridCol w="1097280"/>
                <a:gridCol w="1097280"/>
              </a:tblGrid>
              <a:tr h="502920">
                <a:tc>
                  <a:txBody>
                    <a:bodyPr anchor="ctr">
                      <a:noAutofit/>
                    </a:bodyPr>
                    <a:p>
                      <a:endParaRPr b="0" lang="en-US" sz="1100" spc="-1" strike="noStrike">
                        <a:solidFill>
                          <a:schemeClr val="dk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5dce8"/>
                      </a:solidFill>
                      <a:prstDash val="solid"/>
                    </a:lnL>
                    <a:lnR w="12240">
                      <a:solidFill>
                        <a:srgbClr val="d5dce8"/>
                      </a:solidFill>
                      <a:prstDash val="solid"/>
                    </a:lnR>
                    <a:lnT w="12240">
                      <a:solidFill>
                        <a:srgbClr val="d5dce8"/>
                      </a:solidFill>
                      <a:prstDash val="solid"/>
                    </a:lnT>
                    <a:lnB w="12240">
                      <a:solidFill>
                        <a:srgbClr val="d5dce8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ko-KR" sz="110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예측 부정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5dce8"/>
                      </a:solidFill>
                      <a:prstDash val="solid"/>
                    </a:lnL>
                    <a:lnR w="12240">
                      <a:solidFill>
                        <a:srgbClr val="d5dce8"/>
                      </a:solidFill>
                      <a:prstDash val="solid"/>
                    </a:lnR>
                    <a:lnT w="12240">
                      <a:solidFill>
                        <a:srgbClr val="d5dce8"/>
                      </a:solidFill>
                      <a:prstDash val="solid"/>
                    </a:lnT>
                    <a:lnB w="12240">
                      <a:solidFill>
                        <a:srgbClr val="d5dce8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ko-KR" sz="1100" spc="-1" strike="noStrik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예측 긍정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5dce8"/>
                      </a:solidFill>
                      <a:prstDash val="solid"/>
                    </a:lnL>
                    <a:lnR w="12240">
                      <a:solidFill>
                        <a:srgbClr val="d5dce8"/>
                      </a:solidFill>
                      <a:prstDash val="solid"/>
                    </a:lnR>
                    <a:lnT w="12240">
                      <a:solidFill>
                        <a:srgbClr val="d5dce8"/>
                      </a:solidFill>
                      <a:prstDash val="solid"/>
                    </a:lnT>
                    <a:lnB w="12240">
                      <a:solidFill>
                        <a:srgbClr val="d5dce8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</a:tr>
              <a:tr h="8686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ko-KR" sz="1100" spc="-1" strike="noStrike">
                          <a:solidFill>
                            <a:srgbClr val="14213d"/>
                          </a:solidFill>
                          <a:latin typeface="맑은 고딕"/>
                          <a:ea typeface="맑은 고딕"/>
                        </a:rPr>
                        <a:t>실제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ko-KR" sz="1100" spc="-1" strike="noStrike">
                          <a:solidFill>
                            <a:srgbClr val="14213d"/>
                          </a:solidFill>
                          <a:latin typeface="맑은 고딕"/>
                          <a:ea typeface="맑은 고딕"/>
                        </a:rPr>
                        <a:t>부정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5dce8"/>
                      </a:solidFill>
                      <a:prstDash val="solid"/>
                    </a:lnL>
                    <a:lnR w="12240">
                      <a:solidFill>
                        <a:srgbClr val="d5dce8"/>
                      </a:solidFill>
                      <a:prstDash val="solid"/>
                    </a:lnR>
                    <a:lnT w="12240">
                      <a:solidFill>
                        <a:srgbClr val="d5dce8"/>
                      </a:solidFill>
                      <a:prstDash val="solid"/>
                    </a:lnT>
                    <a:lnB w="12240">
                      <a:solidFill>
                        <a:srgbClr val="d5dce8"/>
                      </a:solidFill>
                      <a:prstDash val="solid"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1f2433"/>
                          </a:solidFill>
                          <a:latin typeface="맑은 고딕"/>
                          <a:ea typeface="맑은 고딕"/>
                        </a:rPr>
                        <a:t>768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5dce8"/>
                      </a:solidFill>
                      <a:prstDash val="solid"/>
                    </a:lnL>
                    <a:lnR w="12240">
                      <a:solidFill>
                        <a:srgbClr val="d5dce8"/>
                      </a:solidFill>
                      <a:prstDash val="solid"/>
                    </a:lnR>
                    <a:lnT w="12240">
                      <a:solidFill>
                        <a:srgbClr val="d5dce8"/>
                      </a:solidFill>
                      <a:prstDash val="solid"/>
                    </a:lnT>
                    <a:lnB w="12240">
                      <a:solidFill>
                        <a:srgbClr val="d5dce8"/>
                      </a:solidFill>
                      <a:prstDash val="solid"/>
                    </a:lnB>
                    <a:solidFill>
                      <a:srgbClr val="ffe6b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f2433"/>
                          </a:solidFill>
                          <a:latin typeface="맑은 고딕"/>
                          <a:ea typeface="맑은 고딕"/>
                        </a:rPr>
                        <a:t>432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5dce8"/>
                      </a:solidFill>
                      <a:prstDash val="solid"/>
                    </a:lnL>
                    <a:lnR w="12240">
                      <a:solidFill>
                        <a:srgbClr val="d5dce8"/>
                      </a:solidFill>
                      <a:prstDash val="solid"/>
                    </a:lnR>
                    <a:lnT w="12240">
                      <a:solidFill>
                        <a:srgbClr val="d5dce8"/>
                      </a:solidFill>
                      <a:prstDash val="solid"/>
                    </a:lnT>
                    <a:lnB w="12240">
                      <a:solidFill>
                        <a:srgbClr val="d5dc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ko-KR" sz="1100" spc="-1" strike="noStrike">
                          <a:solidFill>
                            <a:srgbClr val="14213d"/>
                          </a:solidFill>
                          <a:latin typeface="맑은 고딕"/>
                          <a:ea typeface="맑은 고딕"/>
                        </a:rPr>
                        <a:t>실제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ko-KR" sz="1100" spc="-1" strike="noStrike">
                          <a:solidFill>
                            <a:srgbClr val="14213d"/>
                          </a:solidFill>
                          <a:latin typeface="맑은 고딕"/>
                          <a:ea typeface="맑은 고딕"/>
                        </a:rPr>
                        <a:t>긍정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5dce8"/>
                      </a:solidFill>
                      <a:prstDash val="solid"/>
                    </a:lnL>
                    <a:lnR w="12240">
                      <a:solidFill>
                        <a:srgbClr val="d5dce8"/>
                      </a:solidFill>
                      <a:prstDash val="solid"/>
                    </a:lnR>
                    <a:lnT w="12240">
                      <a:solidFill>
                        <a:srgbClr val="d5dce8"/>
                      </a:solidFill>
                      <a:prstDash val="solid"/>
                    </a:lnT>
                    <a:lnB w="12240">
                      <a:solidFill>
                        <a:srgbClr val="d5dce8"/>
                      </a:solidFill>
                      <a:prstDash val="solid"/>
                    </a:lnB>
                    <a:solidFill>
                      <a:srgbClr val="e8ec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1f2433"/>
                          </a:solidFill>
                          <a:latin typeface="맑은 고딕"/>
                          <a:ea typeface="맑은 고딕"/>
                        </a:rPr>
                        <a:t>183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5dce8"/>
                      </a:solidFill>
                      <a:prstDash val="solid"/>
                    </a:lnL>
                    <a:lnR w="12240">
                      <a:solidFill>
                        <a:srgbClr val="d5dce8"/>
                      </a:solidFill>
                      <a:prstDash val="solid"/>
                    </a:lnR>
                    <a:lnT w="12240">
                      <a:solidFill>
                        <a:srgbClr val="d5dce8"/>
                      </a:solidFill>
                      <a:prstDash val="solid"/>
                    </a:lnT>
                    <a:lnB w="12240">
                      <a:solidFill>
                        <a:srgbClr val="d5dc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1f2433"/>
                          </a:solidFill>
                          <a:latin typeface="맑은 고딕"/>
                          <a:ea typeface="맑은 고딕"/>
                        </a:rPr>
                        <a:t>1017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5dce8"/>
                      </a:solidFill>
                      <a:prstDash val="solid"/>
                    </a:lnL>
                    <a:lnR w="12240">
                      <a:solidFill>
                        <a:srgbClr val="d5dce8"/>
                      </a:solidFill>
                      <a:prstDash val="solid"/>
                    </a:lnR>
                    <a:lnT w="12240">
                      <a:solidFill>
                        <a:srgbClr val="d5dce8"/>
                      </a:solidFill>
                      <a:prstDash val="solid"/>
                    </a:lnT>
                    <a:lnB w="12240">
                      <a:solidFill>
                        <a:srgbClr val="d5dce8"/>
                      </a:solidFill>
                      <a:prstDash val="solid"/>
                    </a:lnB>
                    <a:solidFill>
                      <a:srgbClr val="ffe6b8"/>
                    </a:solidFill>
                  </a:tcPr>
                </a:tc>
              </a:tr>
            </a:tbl>
          </a:graphicData>
        </a:graphic>
      </p:graphicFrame>
      <p:sp>
        <p:nvSpPr>
          <p:cNvPr id="139" name="Text 10"/>
          <p:cNvSpPr/>
          <p:nvPr/>
        </p:nvSpPr>
        <p:spPr>
          <a:xfrm>
            <a:off x="8280000" y="4657320"/>
            <a:ext cx="32911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b7280"/>
                </a:solidFill>
                <a:latin typeface="맑은 고딕"/>
                <a:ea typeface="맑은 고딕"/>
              </a:rPr>
              <a:t>· loss : 0.5150%</a:t>
            </a:r>
            <a:endParaRPr b="0" lang="en-US" sz="125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-1280160" y="4297680"/>
            <a:ext cx="3839760" cy="3839760"/>
          </a:xfrm>
          <a:prstGeom prst="ellipse">
            <a:avLst/>
          </a:prstGeom>
          <a:solidFill>
            <a:srgbClr val="1e2c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640080" y="822960"/>
            <a:ext cx="100576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36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결론 </a:t>
            </a:r>
            <a:r>
              <a:rPr b="1" lang="en-US" sz="36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&amp; </a:t>
            </a:r>
            <a:r>
              <a:rPr b="1" lang="ko-KR" sz="36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배포</a:t>
            </a:r>
            <a:endParaRPr b="0" lang="en-US" sz="36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42" name="Shape 2"/>
          <p:cNvSpPr/>
          <p:nvPr/>
        </p:nvSpPr>
        <p:spPr>
          <a:xfrm>
            <a:off x="640080" y="1965960"/>
            <a:ext cx="502200" cy="502200"/>
          </a:xfrm>
          <a:prstGeom prst="ellipse">
            <a:avLst/>
          </a:prstGeom>
          <a:solidFill>
            <a:srgbClr val="fca3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3" name="Text 3"/>
          <p:cNvSpPr/>
          <p:nvPr/>
        </p:nvSpPr>
        <p:spPr>
          <a:xfrm>
            <a:off x="640080" y="196596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✓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1371600" y="1874520"/>
            <a:ext cx="10332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000" spc="-1" strike="noStrike">
                <a:solidFill>
                  <a:srgbClr val="fca311"/>
                </a:solidFill>
                <a:latin typeface="맑은 고딕"/>
                <a:ea typeface="맑은 고딕"/>
              </a:rPr>
              <a:t>수집부터 배포까지 완주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1371600" y="2331720"/>
            <a:ext cx="10332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douban </a:t>
            </a:r>
            <a:r>
              <a:rPr b="0" lang="ko-KR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크롤링 → 전처리 → </a:t>
            </a:r>
            <a:r>
              <a:rPr b="0" lang="en-US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LSTM </a:t>
            </a:r>
            <a:r>
              <a:rPr b="0" lang="ko-KR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학습 → 평가 → 배포 전 과정 구현</a:t>
            </a:r>
            <a:endParaRPr b="0" lang="en-US" sz="145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640080" y="3200400"/>
            <a:ext cx="502200" cy="502200"/>
          </a:xfrm>
          <a:prstGeom prst="ellipse">
            <a:avLst/>
          </a:prstGeom>
          <a:solidFill>
            <a:srgbClr val="fca3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640080" y="320040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✓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1371600" y="3108960"/>
            <a:ext cx="10332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ca311"/>
                </a:solidFill>
                <a:latin typeface="맑은 고딕"/>
                <a:ea typeface="맑은 고딕"/>
              </a:rPr>
              <a:t>3</a:t>
            </a:r>
            <a:r>
              <a:rPr b="1" lang="ko-KR" sz="2000" spc="-1" strike="noStrike">
                <a:solidFill>
                  <a:srgbClr val="fca311"/>
                </a:solidFill>
                <a:latin typeface="맑은 고딕"/>
                <a:ea typeface="맑은 고딕"/>
              </a:rPr>
              <a:t>대 난관 해결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49" name="Text 9"/>
          <p:cNvSpPr/>
          <p:nvPr/>
        </p:nvSpPr>
        <p:spPr>
          <a:xfrm>
            <a:off x="1371600" y="3566160"/>
            <a:ext cx="10332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봇 차단</a:t>
            </a:r>
            <a:r>
              <a:rPr b="0" lang="en-US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(curl-cffi·Selenium), </a:t>
            </a:r>
            <a:r>
              <a:rPr b="0" lang="ko-KR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대용량</a:t>
            </a:r>
            <a:r>
              <a:rPr b="0" lang="en-US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·</a:t>
            </a:r>
            <a:r>
              <a:rPr b="0" lang="ko-KR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학습시간</a:t>
            </a:r>
            <a:r>
              <a:rPr b="0" lang="en-US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(Early Stop), </a:t>
            </a:r>
            <a:r>
              <a:rPr b="0" lang="ko-KR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중단기준</a:t>
            </a:r>
            <a:r>
              <a:rPr b="0" lang="en-US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(</a:t>
            </a:r>
            <a:r>
              <a:rPr b="0" lang="ko-KR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시간 </a:t>
            </a:r>
            <a:r>
              <a:rPr b="0" lang="en-US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30</a:t>
            </a:r>
            <a:r>
              <a:rPr b="0" lang="ko-KR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분</a:t>
            </a:r>
            <a:r>
              <a:rPr b="0" lang="en-US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)</a:t>
            </a:r>
            <a:endParaRPr b="0" lang="en-US" sz="145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50" name="Shape 10"/>
          <p:cNvSpPr/>
          <p:nvPr/>
        </p:nvSpPr>
        <p:spPr>
          <a:xfrm>
            <a:off x="640080" y="4434840"/>
            <a:ext cx="502200" cy="502200"/>
          </a:xfrm>
          <a:prstGeom prst="ellipse">
            <a:avLst/>
          </a:prstGeom>
          <a:solidFill>
            <a:srgbClr val="fca31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640080" y="44348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4213d"/>
                </a:solidFill>
                <a:latin typeface="맑은 고딕"/>
                <a:ea typeface="맑은 고딕"/>
              </a:rPr>
              <a:t>✓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1371600" y="4343400"/>
            <a:ext cx="10332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000" spc="-1" strike="noStrike">
                <a:solidFill>
                  <a:srgbClr val="fca311"/>
                </a:solidFill>
                <a:latin typeface="맑은 고딕"/>
                <a:ea typeface="맑은 고딕"/>
              </a:rPr>
              <a:t>실시간 서비스화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1371600" y="4800600"/>
            <a:ext cx="10332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Streamlit </a:t>
            </a:r>
            <a:r>
              <a:rPr b="0" lang="ko-KR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웹 대시보드로 리뷰 입력 시 즉시 긍</a:t>
            </a:r>
            <a:r>
              <a:rPr b="0" lang="en-US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·</a:t>
            </a:r>
            <a:r>
              <a:rPr b="0" lang="ko-KR" sz="1450" spc="-1" strike="noStrike">
                <a:solidFill>
                  <a:srgbClr val="cbd5e6"/>
                </a:solidFill>
                <a:latin typeface="맑은 고딕"/>
                <a:ea typeface="맑은 고딕"/>
              </a:rPr>
              <a:t>부정 판정</a:t>
            </a:r>
            <a:endParaRPr b="0" lang="en-US" sz="145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640080" y="5943600"/>
            <a:ext cx="10057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2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감사합니다</a:t>
            </a:r>
            <a:endParaRPr b="0" lang="en-US" sz="2200" spc="-1" strike="noStrike">
              <a:solidFill>
                <a:srgbClr val="ffffff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Application>PPT_Plus/1.0.0.0$Windows_X86_64 LibreOffice_project/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2026-06-23T02:03:29Z</dcterms:created>
  <dc:creator>황시윤</dc:creator>
  <dc:description/>
  <dc:language>ko-KR</dc:language>
  <cp:lastModifiedBy/>
  <dcterms:modified xsi:type="dcterms:W3CDTF">2026-06-23T12:39:32Z</dcterms:modified>
  <cp:revision>4</cp:revision>
  <dc:subject>PptxGenJS Presentation</dc:subject>
  <dc:title>영화 리뷰 감성 분석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